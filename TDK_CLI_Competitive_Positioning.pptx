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going to talk about TDK CLI and how it solves a problem that 70% of developers face: being forced to learn Kubernetes just to run microservices locally. This isn't about bashing other tools—it's about finding a better way for teams who want to move fast without platform engineering overhead.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Kubernetes learning curve is real. Most developers didn't sign up to become DevOps engineers. Yet every microservice tool out there—Garden, Skaffold, DevSpace—forces them to learn K8s concepts. The result? Cognitive overload. Teams either give up and pay for expensive cloud dev environments, or they power through and waste weeks learning infrastructure they don't actually need for local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translation problem. Garden's marketing says 'production-like environments' but what developers actually hear is 'learn namespaces, ingress, contexts, and deployments.' The marketing is technically accurate but practically misleading. TDK takes a different approach: pure Docker + Tilt. No K8s concepts leaked.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map the competitive landscape. Tilt is our foundation—we're built ON Tilt, not competing with it. Garden is our closest competitor but they leak K8s concepts. Skaffold is pure K8s. DevSpace pivoted to AI agents. Okteto requires remote clusters. TDK is the only one that's manifest-driven AND K8s-free for local dev.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Head-to-head comparison. Garden requires you to write garden.yml and understand K8s concepts. TDK uses a simple service.json. Garden's auto-generation is limited. TDK generates 10+ config files automatically. The biggest difference: Garden eventually requires cluster knowledge, TDK never does for local dev.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makes TDK unique. We're the only tool that generates configs from manifests WITHOUT requiring Kubernetes. We've proven this scales to 120+ services locally. The golden Docker images with L1-L4 layering means consistent, production-ready containers. Auto-discovery means zero manual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segmentation matters. Platform engineers WANT K8s—they'll pick Garden or DevSpace. Senior backend devs tolerate K8s—they'll use Tilt or Skaffold. But full-stack and product developers DON'T know K8s and DON'T want to learn it. That's our target market. We're the tool for developers who just want to write 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our positioning statement. Read it slowly: 'TDK CLI is the Kubernetes-free alternative for local microservice development, for teams building microservices who don't want to learn Kubernetes, who need to run 5-120+ services locally with Docker-only simplicity and manifest-driven speed.' This is our North Star for all messaging.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do's and don'ts. Don't say 'manifest-driven local development orchestration framework'—that's jargon. Do say 'run your microservices locally without learning Kubernetes'—that's the benefit. Don't say 'for stupid developers'—that's insulting. Do say 'for developers who want to focus on code, not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moat isn't one thing—it's four. Tilt foundation gives us stability. Manifest-driven approach is unique in local-dev. Golden images give us production-readiness. Auto-discovery removes friction. Competitors can copy one, but replicating all four is hard. Plus we have 120+ services battle-tested.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competition isn't other tools—it's the status quo. 'Works on my machine' chaos. Teams giving up and paying $500+/month for cloud dev environments. Manual Docker Compose hell. Our closest competitor is Garden, but they require K8s knowledge. Our unique angle: same manifest-driven power, zero K8s complexity.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TDK CLI. Kubernetes-free microservice development.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0"/>
            <a:ext cx="10728655" cy="1097280"/>
          </a:xfrm>
          <a:prstGeom prst="rect">
            <a:avLst/>
          </a:prstGeom>
          <a:noFill/>
        </p:spPr>
        <p:txBody>
          <a:bodyPr wrap="none">
            <a:spAutoFit/>
          </a:bodyPr>
          <a:lstStyle/>
          <a:p>
            <a:pPr algn="ctr">
              <a:defRPr sz="5600" b="1">
                <a:solidFill>
                  <a:srgbClr val="212529"/>
                </a:solidFill>
              </a:defRPr>
            </a:pPr>
            <a:r>
              <a:t>TDK CLI Competitive Positioning</a:t>
            </a:r>
          </a:p>
          <a:p>
            <a:pPr algn="ctr">
              <a:spcBef>
                <a:spcPts val="2000"/>
              </a:spcBef>
              <a:defRPr sz="2800">
                <a:solidFill>
                  <a:srgbClr val="6C757D"/>
                </a:solidFill>
              </a:defRPr>
            </a:pPr>
            <a:r>
              <a:t>The Kubernetes-Free Alternative for Local Microservice Development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The Problem: The Kubernetes Learning Curve</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200"/>
              </a:spcBef>
              <a:defRPr sz="2200">
                <a:solidFill>
                  <a:srgbClr val="212529"/>
                </a:solidFill>
              </a:defRPr>
            </a:pPr>
            <a:r>
              <a:t>  70% of developers don't understand Kubernetes</a:t>
            </a:r>
          </a:p>
          <a:p>
            <a:pPr>
              <a:spcBef>
                <a:spcPts val="1200"/>
              </a:spcBef>
              <a:defRPr sz="2200">
                <a:solidFill>
                  <a:srgbClr val="212529"/>
                </a:solidFill>
              </a:defRPr>
            </a:pPr>
            <a:r>
              <a:t>  Yet every microservice tool forces them to learn it</a:t>
            </a:r>
          </a:p>
          <a:p>
            <a:pPr>
              <a:spcBef>
                <a:spcPts val="1600"/>
              </a:spcBef>
              <a:defRPr sz="2200" b="1">
                <a:solidFill>
                  <a:srgbClr val="212529"/>
                </a:solidFill>
              </a:defRPr>
            </a:pPr>
            <a:r>
              <a:t>Garden:</a:t>
            </a:r>
          </a:p>
          <a:p>
            <a:pPr>
              <a:spcAft>
                <a:spcPts val="800"/>
              </a:spcAft>
              <a:defRPr sz="1800">
                <a:solidFill>
                  <a:srgbClr val="6C757D"/>
                </a:solidFill>
              </a:defRPr>
            </a:pPr>
            <a:r>
              <a:t>'Production-like environments' = hidden complexity</a:t>
            </a:r>
          </a:p>
          <a:p>
            <a:pPr>
              <a:spcBef>
                <a:spcPts val="1600"/>
              </a:spcBef>
              <a:defRPr sz="2200" b="1">
                <a:solidFill>
                  <a:srgbClr val="212529"/>
                </a:solidFill>
              </a:defRPr>
            </a:pPr>
            <a:r>
              <a:t>Skaffold:</a:t>
            </a:r>
          </a:p>
          <a:p>
            <a:pPr>
              <a:spcAft>
                <a:spcPts val="800"/>
              </a:spcAft>
              <a:defRPr sz="1800">
                <a:solidFill>
                  <a:srgbClr val="6C757D"/>
                </a:solidFill>
              </a:defRPr>
            </a:pPr>
            <a:r>
              <a:t>Requires K8s cluster expertise</a:t>
            </a:r>
          </a:p>
          <a:p>
            <a:pPr>
              <a:spcBef>
                <a:spcPts val="1600"/>
              </a:spcBef>
              <a:defRPr sz="2200" b="1">
                <a:solidFill>
                  <a:srgbClr val="212529"/>
                </a:solidFill>
              </a:defRPr>
            </a:pPr>
            <a:r>
              <a:t>DevSpace:</a:t>
            </a:r>
          </a:p>
          <a:p>
            <a:pPr>
              <a:spcAft>
                <a:spcPts val="800"/>
              </a:spcAft>
              <a:defRPr sz="1800">
                <a:solidFill>
                  <a:srgbClr val="6C757D"/>
                </a:solidFill>
              </a:defRPr>
            </a:pPr>
            <a:r>
              <a:t>Built for K8s specialists</a:t>
            </a:r>
          </a:p>
          <a:p>
            <a:pPr>
              <a:spcBef>
                <a:spcPts val="1600"/>
              </a:spcBef>
              <a:defRPr sz="2200" b="1">
                <a:solidFill>
                  <a:srgbClr val="212529"/>
                </a:solidFill>
              </a:defRPr>
            </a:pPr>
            <a:r>
              <a:t>Result:</a:t>
            </a:r>
          </a:p>
          <a:p>
            <a:pPr>
              <a:spcAft>
                <a:spcPts val="800"/>
              </a:spcAft>
              <a:defRPr sz="1800">
                <a:solidFill>
                  <a:srgbClr val="6C757D"/>
                </a:solidFill>
              </a:defRPr>
            </a:pPr>
            <a:r>
              <a:t>Regular developers get blocked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What Developers Actually Hear</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600"/>
              </a:spcBef>
              <a:defRPr sz="2200" b="1">
                <a:solidFill>
                  <a:srgbClr val="212529"/>
                </a:solidFill>
              </a:defRPr>
            </a:pPr>
            <a:r>
              <a:t>Garden says:</a:t>
            </a:r>
          </a:p>
          <a:p>
            <a:pPr>
              <a:spcAft>
                <a:spcPts val="800"/>
              </a:spcAft>
              <a:defRPr sz="1800">
                <a:solidFill>
                  <a:srgbClr val="6C757D"/>
                </a:solidFill>
              </a:defRPr>
            </a:pPr>
            <a:r>
              <a:t>"Spin up production-like environments for development, testing, and CI on demand"</a:t>
            </a:r>
          </a:p>
          <a:p>
            <a:pPr>
              <a:spcBef>
                <a:spcPts val="1600"/>
              </a:spcBef>
              <a:defRPr sz="2200" b="1">
                <a:solidFill>
                  <a:srgbClr val="212529"/>
                </a:solidFill>
              </a:defRPr>
            </a:pPr>
            <a:r>
              <a:t>Developer hears:</a:t>
            </a:r>
          </a:p>
          <a:p>
            <a:pPr>
              <a:spcAft>
                <a:spcPts val="800"/>
              </a:spcAft>
              <a:defRPr sz="1800">
                <a:solidFill>
                  <a:srgbClr val="6C757D"/>
                </a:solidFill>
              </a:defRPr>
            </a:pPr>
            <a:r>
              <a:t>"Learn Kubernetes, namespaces, ingress, contexts, deployments..."</a:t>
            </a:r>
          </a:p>
          <a:p>
            <a:pPr>
              <a:spcBef>
                <a:spcPts val="1600"/>
              </a:spcBef>
              <a:defRPr sz="2200" b="1">
                <a:solidFill>
                  <a:srgbClr val="212529"/>
                </a:solidFill>
              </a:defRPr>
            </a:pPr>
            <a:r>
              <a:t>Result:</a:t>
            </a:r>
          </a:p>
          <a:p>
            <a:pPr>
              <a:spcAft>
                <a:spcPts val="800"/>
              </a:spcAft>
              <a:defRPr sz="1800">
                <a:solidFill>
                  <a:srgbClr val="6C757D"/>
                </a:solidFill>
              </a:defRPr>
            </a:pPr>
            <a:r>
              <a:t>Cognitive overload. They give up and use expensive cloud dev environments</a:t>
            </a:r>
          </a:p>
          <a:p>
            <a:pPr>
              <a:spcBef>
                <a:spcPts val="1200"/>
              </a:spcBef>
              <a:defRPr sz="2200">
                <a:solidFill>
                  <a:srgbClr val="212529"/>
                </a:solidFill>
              </a:defRPr>
            </a:pPr>
            <a:r>
              <a:t>  </a:t>
            </a:r>
          </a:p>
          <a:p>
            <a:pPr>
              <a:spcBef>
                <a:spcPts val="1600"/>
              </a:spcBef>
              <a:defRPr sz="2200" b="1">
                <a:solidFill>
                  <a:srgbClr val="212529"/>
                </a:solidFill>
              </a:defRPr>
            </a:pPr>
            <a:r>
              <a:t>TDK's Advantage:</a:t>
            </a:r>
          </a:p>
          <a:p>
            <a:pPr>
              <a:spcAft>
                <a:spcPts val="800"/>
              </a:spcAft>
              <a:defRPr sz="1800">
                <a:solidFill>
                  <a:srgbClr val="6C757D"/>
                </a:solidFill>
              </a:defRPr>
            </a:pPr>
            <a:r>
              <a:t>Pure Docker. No K8s. Just write service.json and tilt 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The Competitive Landscape</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600"/>
              </a:spcBef>
              <a:defRPr sz="2200" b="1">
                <a:solidFill>
                  <a:srgbClr val="212529"/>
                </a:solidFill>
              </a:defRPr>
            </a:pPr>
            <a:r>
              <a:t>Tilt</a:t>
            </a:r>
          </a:p>
          <a:p>
            <a:pPr>
              <a:spcAft>
                <a:spcPts val="800"/>
              </a:spcAft>
              <a:defRPr sz="1800">
                <a:solidFill>
                  <a:srgbClr val="6C757D"/>
                </a:solidFill>
              </a:defRPr>
            </a:pPr>
            <a:r>
              <a:t>Foundation layer - TDK is built ON Tilt (not competing)</a:t>
            </a:r>
          </a:p>
          <a:p>
            <a:pPr>
              <a:spcBef>
                <a:spcPts val="1600"/>
              </a:spcBef>
              <a:defRPr sz="2200" b="1">
                <a:solidFill>
                  <a:srgbClr val="212529"/>
                </a:solidFill>
              </a:defRPr>
            </a:pPr>
            <a:r>
              <a:t>Garden</a:t>
            </a:r>
          </a:p>
          <a:p>
            <a:pPr>
              <a:spcAft>
                <a:spcPts val="800"/>
              </a:spcAft>
              <a:defRPr sz="1800">
                <a:solidFill>
                  <a:srgbClr val="6C757D"/>
                </a:solidFill>
              </a:defRPr>
            </a:pPr>
            <a:r>
              <a:t>Manifest-driven but leaks K8s concepts. Requires cluster knowledge</a:t>
            </a:r>
          </a:p>
          <a:p>
            <a:pPr>
              <a:spcBef>
                <a:spcPts val="1600"/>
              </a:spcBef>
              <a:defRPr sz="2200" b="1">
                <a:solidFill>
                  <a:srgbClr val="212529"/>
                </a:solidFill>
              </a:defRPr>
            </a:pPr>
            <a:r>
              <a:t>Skaffold (Google)</a:t>
            </a:r>
          </a:p>
          <a:p>
            <a:pPr>
              <a:spcAft>
                <a:spcPts val="800"/>
              </a:spcAft>
              <a:defRPr sz="1800">
                <a:solidFill>
                  <a:srgbClr val="6C757D"/>
                </a:solidFill>
              </a:defRPr>
            </a:pPr>
            <a:r>
              <a:t>Pure K8s tool. No auto-generation. Complex YAML</a:t>
            </a:r>
          </a:p>
          <a:p>
            <a:pPr>
              <a:spcBef>
                <a:spcPts val="1600"/>
              </a:spcBef>
              <a:defRPr sz="2200" b="1">
                <a:solidFill>
                  <a:srgbClr val="212529"/>
                </a:solidFill>
              </a:defRPr>
            </a:pPr>
            <a:r>
              <a:t>DevSpace</a:t>
            </a:r>
          </a:p>
          <a:p>
            <a:pPr>
              <a:spcAft>
                <a:spcPts val="800"/>
              </a:spcAft>
              <a:defRPr sz="1800">
                <a:solidFill>
                  <a:srgbClr val="6C757D"/>
                </a:solidFill>
              </a:defRPr>
            </a:pPr>
            <a:r>
              <a:t>K8s-focused with nice UI. Still requires K8s expertise</a:t>
            </a:r>
          </a:p>
          <a:p>
            <a:pPr>
              <a:spcBef>
                <a:spcPts val="1600"/>
              </a:spcBef>
              <a:defRPr sz="2200" b="1">
                <a:solidFill>
                  <a:srgbClr val="212529"/>
                </a:solidFill>
              </a:defRPr>
            </a:pPr>
            <a:r>
              <a:t>Okteto</a:t>
            </a:r>
          </a:p>
          <a:p>
            <a:pPr>
              <a:spcAft>
                <a:spcPts val="800"/>
              </a:spcAft>
              <a:defRPr sz="1800">
                <a:solidFill>
                  <a:srgbClr val="6C757D"/>
                </a:solidFill>
              </a:defRPr>
            </a:pPr>
            <a:r>
              <a:t>Pivoted to AI agents. Lost local dev focus</a:t>
            </a:r>
          </a:p>
          <a:p>
            <a:pPr>
              <a:spcBef>
                <a:spcPts val="1600"/>
              </a:spcBef>
              <a:defRPr sz="2200" b="1">
                <a:solidFill>
                  <a:srgbClr val="212529"/>
                </a:solidFill>
              </a:defRPr>
            </a:pPr>
            <a:r>
              <a:t>Docker Compose</a:t>
            </a:r>
          </a:p>
          <a:p>
            <a:pPr>
              <a:spcAft>
                <a:spcPts val="800"/>
              </a:spcAft>
              <a:defRPr sz="1800">
                <a:solidFill>
                  <a:srgbClr val="6C757D"/>
                </a:solidFill>
              </a:defRPr>
            </a:pPr>
            <a:r>
              <a:t>Static configs. No auto-gen. No service discovery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TDK vs. Garden: Head-to-Head</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400"/>
              </a:spcBef>
              <a:defRPr sz="2000" b="1">
                <a:solidFill>
                  <a:srgbClr val="212529"/>
                </a:solidFill>
              </a:defRPr>
            </a:pPr>
            <a:r>
              <a:t>Manifest-driven</a:t>
            </a:r>
          </a:p>
          <a:p>
            <a:pPr>
              <a:spcAft>
                <a:spcPts val="600"/>
              </a:spcAft>
              <a:defRPr sz="1800">
                <a:solidFill>
                  <a:srgbClr val="6C757D"/>
                </a:solidFill>
              </a:defRPr>
            </a:pPr>
            <a:r>
              <a:t>    ✅ TDK: Simple service.json  |  ⚠️ Garden: Complex garden.yml</a:t>
            </a:r>
          </a:p>
          <a:p>
            <a:pPr>
              <a:spcBef>
                <a:spcPts val="1400"/>
              </a:spcBef>
              <a:defRPr sz="2000" b="1">
                <a:solidFill>
                  <a:srgbClr val="212529"/>
                </a:solidFill>
              </a:defRPr>
            </a:pPr>
            <a:r>
              <a:t>Auto-generate configs</a:t>
            </a:r>
          </a:p>
          <a:p>
            <a:pPr>
              <a:spcAft>
                <a:spcPts val="600"/>
              </a:spcAft>
              <a:defRPr sz="1800">
                <a:solidFill>
                  <a:srgbClr val="6C757D"/>
                </a:solidFill>
              </a:defRPr>
            </a:pPr>
            <a:r>
              <a:t>    ✅ TDK: Docker, Vite, TSConfig, nginx  |  ⚠️ Garden: Manual setup</a:t>
            </a:r>
          </a:p>
          <a:p>
            <a:pPr>
              <a:spcBef>
                <a:spcPts val="1400"/>
              </a:spcBef>
              <a:defRPr sz="2000" b="1">
                <a:solidFill>
                  <a:srgbClr val="212529"/>
                </a:solidFill>
              </a:defRPr>
            </a:pPr>
            <a:r>
              <a:t>K8s Required</a:t>
            </a:r>
          </a:p>
          <a:p>
            <a:pPr>
              <a:spcAft>
                <a:spcPts val="600"/>
              </a:spcAft>
              <a:defRPr sz="1800">
                <a:solidFill>
                  <a:srgbClr val="6C757D"/>
                </a:solidFill>
              </a:defRPr>
            </a:pPr>
            <a:r>
              <a:t>    ✅ TDK: No (Docker only)  |  ⚠️ Garden: Yes/Optional (leaks concepts)</a:t>
            </a:r>
          </a:p>
          <a:p>
            <a:pPr>
              <a:spcBef>
                <a:spcPts val="1400"/>
              </a:spcBef>
              <a:defRPr sz="2000" b="1">
                <a:solidFill>
                  <a:srgbClr val="212529"/>
                </a:solidFill>
              </a:defRPr>
            </a:pPr>
            <a:r>
              <a:t>Learning Curve</a:t>
            </a:r>
          </a:p>
          <a:p>
            <a:pPr>
              <a:spcAft>
                <a:spcPts val="600"/>
              </a:spcAft>
              <a:defRPr sz="1800">
                <a:solidFill>
                  <a:srgbClr val="6C757D"/>
                </a:solidFill>
              </a:defRPr>
            </a:pPr>
            <a:r>
              <a:t>    ✅ TDK: 30 minutes  |  ⚠️ Garden: 2-3 days (K8s concepts)</a:t>
            </a:r>
          </a:p>
          <a:p>
            <a:pPr>
              <a:spcBef>
                <a:spcPts val="1400"/>
              </a:spcBef>
              <a:defRPr sz="2000" b="1">
                <a:solidFill>
                  <a:srgbClr val="212529"/>
                </a:solidFill>
              </a:defRPr>
            </a:pPr>
            <a:r>
              <a:t>Target User</a:t>
            </a:r>
          </a:p>
          <a:p>
            <a:pPr>
              <a:spcAft>
                <a:spcPts val="600"/>
              </a:spcAft>
              <a:defRPr sz="1800">
                <a:solidFill>
                  <a:srgbClr val="6C757D"/>
                </a:solidFill>
              </a:defRPr>
            </a:pPr>
            <a:r>
              <a:t>    ✅ TDK: Any developer  |  ⚠️ Garden: Platform engineers</a:t>
            </a:r>
          </a:p>
          <a:p>
            <a:pPr>
              <a:spcBef>
                <a:spcPts val="1400"/>
              </a:spcBef>
              <a:defRPr sz="2000" b="1">
                <a:solidFill>
                  <a:srgbClr val="212529"/>
                </a:solidFill>
              </a:defRPr>
            </a:pPr>
            <a:r>
              <a:t>CI/CD</a:t>
            </a:r>
          </a:p>
          <a:p>
            <a:pPr>
              <a:spcAft>
                <a:spcPts val="600"/>
              </a:spcAft>
              <a:defRPr sz="1800">
                <a:solidFill>
                  <a:srgbClr val="6C757D"/>
                </a:solidFill>
              </a:defRPr>
            </a:pPr>
            <a:r>
              <a:t>    ✅ TDK: Not built-in  |  ⚠️ Garden: Built-in pipelines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TDK's Unique Position</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200"/>
              </a:spcBef>
              <a:defRPr sz="2200">
                <a:solidFill>
                  <a:srgbClr val="212529"/>
                </a:solidFill>
              </a:defRPr>
            </a:pPr>
            <a:r>
              <a:t>  Generates configs from manifests (service.json → 10+ files)</a:t>
            </a:r>
          </a:p>
          <a:p>
            <a:pPr>
              <a:spcBef>
                <a:spcPts val="1200"/>
              </a:spcBef>
              <a:defRPr sz="2200">
                <a:solidFill>
                  <a:srgbClr val="212529"/>
                </a:solidFill>
              </a:defRPr>
            </a:pPr>
            <a:r>
              <a:t>  Works WITHOUT Kubernetes (pure Docker + Tilt)</a:t>
            </a:r>
          </a:p>
          <a:p>
            <a:pPr>
              <a:spcBef>
                <a:spcPts val="1200"/>
              </a:spcBef>
              <a:defRPr sz="2200">
                <a:solidFill>
                  <a:srgbClr val="212529"/>
                </a:solidFill>
              </a:defRPr>
            </a:pPr>
            <a:r>
              <a:t>  Scales to 120+ services locally (proven at that scale)</a:t>
            </a:r>
          </a:p>
          <a:p>
            <a:pPr>
              <a:spcBef>
                <a:spcPts val="1200"/>
              </a:spcBef>
              <a:defRPr sz="2200">
                <a:solidFill>
                  <a:srgbClr val="212529"/>
                </a:solidFill>
              </a:defRPr>
            </a:pPr>
            <a:r>
              <a:t>  Auto-discovers services from directory structure</a:t>
            </a:r>
          </a:p>
          <a:p>
            <a:pPr>
              <a:spcBef>
                <a:spcPts val="1200"/>
              </a:spcBef>
              <a:defRPr sz="2200">
                <a:solidFill>
                  <a:srgbClr val="212529"/>
                </a:solidFill>
              </a:defRPr>
            </a:pPr>
            <a:r>
              <a:t>  Provides golden Docker images (L1-L4 layering)</a:t>
            </a:r>
          </a:p>
          <a:p>
            <a:pPr>
              <a:spcBef>
                <a:spcPts val="1200"/>
              </a:spcBef>
              <a:defRPr sz="2200">
                <a:solidFill>
                  <a:srgbClr val="212529"/>
                </a:solidFill>
              </a:defRPr>
            </a:pPr>
            <a:r>
              <a:t>  </a:t>
            </a:r>
          </a:p>
          <a:p>
            <a:pPr>
              <a:spcBef>
                <a:spcPts val="1600"/>
              </a:spcBef>
              <a:defRPr sz="2200" b="1">
                <a:solidFill>
                  <a:srgbClr val="212529"/>
                </a:solidFill>
              </a:defRPr>
            </a:pPr>
            <a:r>
              <a:t>Key Differentiator:</a:t>
            </a:r>
          </a:p>
          <a:p>
            <a:pPr>
              <a:spcAft>
                <a:spcPts val="800"/>
              </a:spcAft>
              <a:defRPr sz="1800">
                <a:solidFill>
                  <a:srgbClr val="6C757D"/>
                </a:solidFill>
              </a:defRPr>
            </a:pPr>
            <a:r>
              <a:t>Microservice orchestration WITHOUT the K8s complexity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Who Uses What Tool</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600"/>
              </a:spcBef>
              <a:defRPr sz="2200" b="1">
                <a:solidFill>
                  <a:srgbClr val="212529"/>
                </a:solidFill>
              </a:defRPr>
            </a:pPr>
            <a:r>
              <a:t>Platform Engineers</a:t>
            </a:r>
          </a:p>
          <a:p>
            <a:pPr>
              <a:spcAft>
                <a:spcPts val="800"/>
              </a:spcAft>
              <a:defRPr sz="1800">
                <a:solidFill>
                  <a:srgbClr val="6C757D"/>
                </a:solidFill>
              </a:defRPr>
            </a:pPr>
            <a:r>
              <a:t>→ Garden, DevSpace (they want K8s-native)</a:t>
            </a:r>
          </a:p>
          <a:p>
            <a:pPr>
              <a:spcBef>
                <a:spcPts val="1600"/>
              </a:spcBef>
              <a:defRPr sz="2200" b="1">
                <a:solidFill>
                  <a:srgbClr val="212529"/>
                </a:solidFill>
              </a:defRPr>
            </a:pPr>
            <a:r>
              <a:t>Senior Backend Devs</a:t>
            </a:r>
          </a:p>
          <a:p>
            <a:pPr>
              <a:spcAft>
                <a:spcPts val="800"/>
              </a:spcAft>
              <a:defRPr sz="1800">
                <a:solidFill>
                  <a:srgbClr val="6C757D"/>
                </a:solidFill>
              </a:defRPr>
            </a:pPr>
            <a:r>
              <a:t>→ Tilt, Skaffold (they tolerate K8s)</a:t>
            </a:r>
          </a:p>
          <a:p>
            <a:pPr>
              <a:spcBef>
                <a:spcPts val="1600"/>
              </a:spcBef>
              <a:defRPr sz="2200" b="1">
                <a:solidFill>
                  <a:srgbClr val="212529"/>
                </a:solidFill>
              </a:defRPr>
            </a:pPr>
            <a:r>
              <a:t>Full-Stack/Product Devs</a:t>
            </a:r>
          </a:p>
          <a:p>
            <a:pPr>
              <a:spcAft>
                <a:spcPts val="800"/>
              </a:spcAft>
              <a:defRPr sz="1800">
                <a:solidFill>
                  <a:srgbClr val="6C757D"/>
                </a:solidFill>
              </a:defRPr>
            </a:pPr>
            <a:r>
              <a:t>→ TDK (they don't know K8s, don't want to)</a:t>
            </a:r>
          </a:p>
          <a:p>
            <a:pPr>
              <a:spcBef>
                <a:spcPts val="1600"/>
              </a:spcBef>
              <a:defRPr sz="2200" b="1">
                <a:solidFill>
                  <a:srgbClr val="212529"/>
                </a:solidFill>
              </a:defRPr>
            </a:pPr>
            <a:r>
              <a:t>Teams with Mixed Skills</a:t>
            </a:r>
          </a:p>
          <a:p>
            <a:pPr>
              <a:spcAft>
                <a:spcPts val="800"/>
              </a:spcAft>
              <a:defRPr sz="1800">
                <a:solidFill>
                  <a:srgbClr val="6C757D"/>
                </a:solidFill>
              </a:defRPr>
            </a:pPr>
            <a:r>
              <a:t>→ TDK (juniors don't get blocked)</a:t>
            </a:r>
          </a:p>
          <a:p>
            <a:pPr>
              <a:spcBef>
                <a:spcPts val="1200"/>
              </a:spcBef>
              <a:defRPr sz="2200">
                <a:solidFill>
                  <a:srgbClr val="212529"/>
                </a:solidFill>
              </a:defRPr>
            </a:pPr>
            <a:r>
              <a:t>  </a:t>
            </a:r>
          </a:p>
          <a:p>
            <a:pPr>
              <a:spcBef>
                <a:spcPts val="1600"/>
              </a:spcBef>
              <a:defRPr sz="2200" b="1">
                <a:solidFill>
                  <a:srgbClr val="212529"/>
                </a:solidFill>
              </a:defRPr>
            </a:pPr>
            <a:r>
              <a:t>Key Insight:</a:t>
            </a:r>
          </a:p>
          <a:p>
            <a:pPr>
              <a:spcAft>
                <a:spcPts val="800"/>
              </a:spcAft>
              <a:defRPr sz="1800">
                <a:solidFill>
                  <a:srgbClr val="6C757D"/>
                </a:solidFill>
              </a:defRPr>
            </a:pPr>
            <a:r>
              <a:t>Garden forces every developer to become a platform engineer. TDK lets developers stay developers.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Positioning Statement</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200"/>
              </a:spcBef>
              <a:defRPr sz="2200">
                <a:solidFill>
                  <a:srgbClr val="212529"/>
                </a:solidFill>
              </a:defRPr>
            </a:pPr>
            <a:r>
              <a:t>  TDK CLI is the 'Kubernetes-free' alternative for local microservice development</a:t>
            </a:r>
          </a:p>
          <a:p>
            <a:pPr>
              <a:spcBef>
                <a:spcPts val="1200"/>
              </a:spcBef>
              <a:defRPr sz="2200">
                <a:solidFill>
                  <a:srgbClr val="212529"/>
                </a:solidFill>
              </a:defRPr>
            </a:pPr>
            <a:r>
              <a:t>  </a:t>
            </a:r>
          </a:p>
          <a:p>
            <a:pPr>
              <a:spcBef>
                <a:spcPts val="1600"/>
              </a:spcBef>
              <a:defRPr sz="2200" b="1">
                <a:solidFill>
                  <a:srgbClr val="212529"/>
                </a:solidFill>
              </a:defRPr>
            </a:pPr>
            <a:r>
              <a:t>For:</a:t>
            </a:r>
          </a:p>
          <a:p>
            <a:pPr>
              <a:spcAft>
                <a:spcPts val="800"/>
              </a:spcAft>
              <a:defRPr sz="1800">
                <a:solidFill>
                  <a:srgbClr val="6C757D"/>
                </a:solidFill>
              </a:defRPr>
            </a:pPr>
            <a:r>
              <a:t>Teams building microservices who don't want to learn Kubernetes</a:t>
            </a:r>
          </a:p>
          <a:p>
            <a:pPr>
              <a:spcBef>
                <a:spcPts val="1600"/>
              </a:spcBef>
              <a:defRPr sz="2200" b="1">
                <a:solidFill>
                  <a:srgbClr val="212529"/>
                </a:solidFill>
              </a:defRPr>
            </a:pPr>
            <a:r>
              <a:t>Who:</a:t>
            </a:r>
          </a:p>
          <a:p>
            <a:pPr>
              <a:spcAft>
                <a:spcPts val="800"/>
              </a:spcAft>
              <a:defRPr sz="1800">
                <a:solidFill>
                  <a:srgbClr val="6C757D"/>
                </a:solidFill>
              </a:defRPr>
            </a:pPr>
            <a:r>
              <a:t>Need to run 5-120+ services locally</a:t>
            </a:r>
          </a:p>
          <a:p>
            <a:pPr>
              <a:spcBef>
                <a:spcPts val="1600"/>
              </a:spcBef>
              <a:defRPr sz="2200" b="1">
                <a:solidFill>
                  <a:srgbClr val="212529"/>
                </a:solidFill>
              </a:defRPr>
            </a:pPr>
            <a:r>
              <a:t>Unlike:</a:t>
            </a:r>
          </a:p>
          <a:p>
            <a:pPr>
              <a:spcAft>
                <a:spcPts val="800"/>
              </a:spcAft>
              <a:defRPr sz="1800">
                <a:solidFill>
                  <a:srgbClr val="6C757D"/>
                </a:solidFill>
              </a:defRPr>
            </a:pPr>
            <a:r>
              <a:t>Garden, Skaffold, DevSpace (which require K8s knowledge)</a:t>
            </a:r>
          </a:p>
          <a:p>
            <a:pPr>
              <a:spcBef>
                <a:spcPts val="1600"/>
              </a:spcBef>
              <a:defRPr sz="2200" b="1">
                <a:solidFill>
                  <a:srgbClr val="212529"/>
                </a:solidFill>
              </a:defRPr>
            </a:pPr>
            <a:r>
              <a:t>We:</a:t>
            </a:r>
          </a:p>
          <a:p>
            <a:pPr>
              <a:spcAft>
                <a:spcPts val="800"/>
              </a:spcAft>
              <a:defRPr sz="1800">
                <a:solidFill>
                  <a:srgbClr val="6C757D"/>
                </a:solidFill>
              </a:defRPr>
            </a:pPr>
            <a:r>
              <a:t>Generate configs from simple JSON manifests using pure Docker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Marketing Messaging</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600"/>
              </a:spcBef>
              <a:defRPr sz="2200" b="1">
                <a:solidFill>
                  <a:srgbClr val="212529"/>
                </a:solidFill>
              </a:defRPr>
            </a:pPr>
            <a:r>
              <a:t>❌ DON'T say:</a:t>
            </a:r>
          </a:p>
          <a:p>
            <a:pPr>
              <a:spcAft>
                <a:spcPts val="800"/>
              </a:spcAft>
              <a:defRPr sz="1800">
                <a:solidFill>
                  <a:srgbClr val="6C757D"/>
                </a:solidFill>
              </a:defRPr>
            </a:pPr>
            <a:r>
              <a:t>"Manifest-driven local development orchestration"</a:t>
            </a:r>
          </a:p>
          <a:p>
            <a:pPr>
              <a:spcBef>
                <a:spcPts val="1600"/>
              </a:spcBef>
              <a:defRPr sz="2200" b="1">
                <a:solidFill>
                  <a:srgbClr val="212529"/>
                </a:solidFill>
              </a:defRPr>
            </a:pPr>
            <a:r>
              <a:t>✅ DO say:</a:t>
            </a:r>
          </a:p>
          <a:p>
            <a:pPr>
              <a:spcAft>
                <a:spcPts val="800"/>
              </a:spcAft>
              <a:defRPr sz="1800">
                <a:solidFill>
                  <a:srgbClr val="6C757D"/>
                </a:solidFill>
              </a:defRPr>
            </a:pPr>
            <a:r>
              <a:t>"Run your microservices locally without learning Kubernetes"</a:t>
            </a:r>
          </a:p>
          <a:p>
            <a:pPr>
              <a:spcBef>
                <a:spcPts val="1200"/>
              </a:spcBef>
              <a:defRPr sz="2200">
                <a:solidFill>
                  <a:srgbClr val="212529"/>
                </a:solidFill>
              </a:defRPr>
            </a:pPr>
            <a:r>
              <a:t>  </a:t>
            </a:r>
          </a:p>
          <a:p>
            <a:pPr>
              <a:spcBef>
                <a:spcPts val="1600"/>
              </a:spcBef>
              <a:defRPr sz="2200" b="1">
                <a:solidFill>
                  <a:srgbClr val="212529"/>
                </a:solidFill>
              </a:defRPr>
            </a:pPr>
            <a:r>
              <a:t>❌ DON'T say:</a:t>
            </a:r>
          </a:p>
          <a:p>
            <a:pPr>
              <a:spcAft>
                <a:spcPts val="800"/>
              </a:spcAft>
              <a:defRPr sz="1800">
                <a:solidFill>
                  <a:srgbClr val="6C757D"/>
                </a:solidFill>
              </a:defRPr>
            </a:pPr>
            <a:r>
              <a:t>"Production-like environments"</a:t>
            </a:r>
          </a:p>
          <a:p>
            <a:pPr>
              <a:spcBef>
                <a:spcPts val="1600"/>
              </a:spcBef>
              <a:defRPr sz="2200" b="1">
                <a:solidFill>
                  <a:srgbClr val="212529"/>
                </a:solidFill>
              </a:defRPr>
            </a:pPr>
            <a:r>
              <a:t>✅ DO say:</a:t>
            </a:r>
          </a:p>
          <a:p>
            <a:pPr>
              <a:spcAft>
                <a:spcPts val="800"/>
              </a:spcAft>
              <a:defRPr sz="1800">
                <a:solidFill>
                  <a:srgbClr val="6C757D"/>
                </a:solidFill>
              </a:defRPr>
            </a:pPr>
            <a:r>
              <a:t>"Your services work locally — just write service.json"</a:t>
            </a:r>
          </a:p>
          <a:p>
            <a:pPr>
              <a:spcBef>
                <a:spcPts val="1200"/>
              </a:spcBef>
              <a:defRPr sz="2200">
                <a:solidFill>
                  <a:srgbClr val="212529"/>
                </a:solidFill>
              </a:defRPr>
            </a:pPr>
            <a:r>
              <a:t>  </a:t>
            </a:r>
          </a:p>
          <a:p>
            <a:pPr>
              <a:spcBef>
                <a:spcPts val="1600"/>
              </a:spcBef>
              <a:defRPr sz="2200" b="1">
                <a:solidFill>
                  <a:srgbClr val="212529"/>
                </a:solidFill>
              </a:defRPr>
            </a:pPr>
            <a:r>
              <a:t>Key Message:</a:t>
            </a:r>
          </a:p>
          <a:p>
            <a:pPr>
              <a:spcAft>
                <a:spcPts val="800"/>
              </a:spcAft>
              <a:defRPr sz="1800">
                <a:solidFill>
                  <a:srgbClr val="6C757D"/>
                </a:solidFill>
              </a:defRPr>
            </a:pPr>
            <a:r>
              <a:t>Zero K8s knowledge required. Any developer can onboard in 30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Competitive Moat</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600"/>
              </a:spcBef>
              <a:defRPr sz="2200" b="1">
                <a:solidFill>
                  <a:srgbClr val="212529"/>
                </a:solidFill>
              </a:defRPr>
            </a:pPr>
            <a:r>
              <a:t>Built on Tilt</a:t>
            </a:r>
          </a:p>
          <a:p>
            <a:pPr>
              <a:spcAft>
                <a:spcPts val="800"/>
              </a:spcAft>
              <a:defRPr sz="1800">
                <a:solidFill>
                  <a:srgbClr val="6C757D"/>
                </a:solidFill>
              </a:defRPr>
            </a:pPr>
            <a:r>
              <a:t>9.4k GitHub stars, stable foundation</a:t>
            </a:r>
          </a:p>
          <a:p>
            <a:pPr>
              <a:spcBef>
                <a:spcPts val="1600"/>
              </a:spcBef>
              <a:defRPr sz="2200" b="1">
                <a:solidFill>
                  <a:srgbClr val="212529"/>
                </a:solidFill>
              </a:defRPr>
            </a:pPr>
            <a:r>
              <a:t>Manifest-driven</a:t>
            </a:r>
          </a:p>
          <a:p>
            <a:pPr>
              <a:spcAft>
                <a:spcPts val="800"/>
              </a:spcAft>
              <a:defRPr sz="1800">
                <a:solidFill>
                  <a:srgbClr val="6C757D"/>
                </a:solidFill>
              </a:defRPr>
            </a:pPr>
            <a:r>
              <a:t>Unique in local-dev space</a:t>
            </a:r>
          </a:p>
          <a:p>
            <a:pPr>
              <a:spcBef>
                <a:spcPts val="1600"/>
              </a:spcBef>
              <a:defRPr sz="2200" b="1">
                <a:solidFill>
                  <a:srgbClr val="212529"/>
                </a:solidFill>
              </a:defRPr>
            </a:pPr>
            <a:r>
              <a:t>Golden images</a:t>
            </a:r>
          </a:p>
          <a:p>
            <a:pPr>
              <a:spcAft>
                <a:spcPts val="800"/>
              </a:spcAft>
              <a:defRPr sz="1800">
                <a:solidFill>
                  <a:srgbClr val="6C757D"/>
                </a:solidFill>
              </a:defRPr>
            </a:pPr>
            <a:r>
              <a:t>Production-ready Docker layering (L1-L4)</a:t>
            </a:r>
          </a:p>
          <a:p>
            <a:pPr>
              <a:spcBef>
                <a:spcPts val="1600"/>
              </a:spcBef>
              <a:defRPr sz="2200" b="1">
                <a:solidFill>
                  <a:srgbClr val="212529"/>
                </a:solidFill>
              </a:defRPr>
            </a:pPr>
            <a:r>
              <a:t>Service synthesis</a:t>
            </a:r>
          </a:p>
          <a:p>
            <a:pPr>
              <a:spcAft>
                <a:spcPts val="800"/>
              </a:spcAft>
              <a:defRPr sz="1800">
                <a:solidFill>
                  <a:srgbClr val="6C757D"/>
                </a:solidFill>
              </a:defRPr>
            </a:pPr>
            <a:r>
              <a:t>Auto-config from directory structure</a:t>
            </a:r>
          </a:p>
          <a:p>
            <a:pPr>
              <a:spcBef>
                <a:spcPts val="1600"/>
              </a:spcBef>
              <a:defRPr sz="2200" b="1">
                <a:solidFill>
                  <a:srgbClr val="212529"/>
                </a:solidFill>
              </a:defRPr>
            </a:pPr>
            <a:r>
              <a:t>Scale tested</a:t>
            </a:r>
          </a:p>
          <a:p>
            <a:pPr>
              <a:spcAft>
                <a:spcPts val="800"/>
              </a:spcAft>
              <a:defRPr sz="1800">
                <a:solidFill>
                  <a:srgbClr val="6C757D"/>
                </a:solidFill>
              </a:defRPr>
            </a:pPr>
            <a:r>
              <a:t>Actually works at 120 services</a:t>
            </a:r>
          </a:p>
          <a:p>
            <a:pPr>
              <a:spcBef>
                <a:spcPts val="1600"/>
              </a:spcBef>
              <a:defRPr sz="2200" b="1">
                <a:solidFill>
                  <a:srgbClr val="212529"/>
                </a:solidFill>
              </a:defRPr>
            </a:pPr>
            <a:r>
              <a:t>K8s-free abstraction</a:t>
            </a:r>
          </a:p>
          <a:p>
            <a:pPr>
              <a:spcAft>
                <a:spcPts val="800"/>
              </a:spcAft>
              <a:defRPr sz="1800">
                <a:solidFill>
                  <a:srgbClr val="6C757D"/>
                </a:solidFill>
              </a:defRPr>
            </a:pPr>
            <a:r>
              <a:t>Complete separation from Kubernetes complexity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914400"/>
          </a:xfrm>
          <a:prstGeom prst="rect">
            <a:avLst/>
          </a:prstGeom>
          <a:noFill/>
        </p:spPr>
        <p:txBody>
          <a:bodyPr wrap="none">
            <a:spAutoFit/>
          </a:bodyPr>
          <a:lstStyle/>
          <a:p>
            <a:pPr>
              <a:defRPr sz="4000" b="1">
                <a:solidFill>
                  <a:srgbClr val="7C4DFF"/>
                </a:solidFill>
              </a:defRPr>
            </a:pPr>
            <a:r>
              <a:t>Bottom Line</a:t>
            </a:r>
          </a:p>
        </p:txBody>
      </p:sp>
      <p:sp>
        <p:nvSpPr>
          <p:cNvPr id="5" name="Rectangle 4"/>
          <p:cNvSpPr/>
          <p:nvPr/>
        </p:nvSpPr>
        <p:spPr>
          <a:xfrm>
            <a:off x="731520" y="1188720"/>
            <a:ext cx="1371600" cy="457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728655" cy="5029200"/>
          </a:xfrm>
          <a:prstGeom prst="rect">
            <a:avLst/>
          </a:prstGeom>
          <a:noFill/>
        </p:spPr>
        <p:txBody>
          <a:bodyPr wrap="square">
            <a:spAutoFit/>
          </a:bodyPr>
          <a:lstStyle/>
          <a:p>
            <a:pPr>
              <a:spcBef>
                <a:spcPts val="1200"/>
              </a:spcBef>
              <a:defRPr sz="2200">
                <a:solidFill>
                  <a:srgbClr val="212529"/>
                </a:solidFill>
              </a:defRPr>
            </a:pPr>
            <a:r>
              <a:t>  Your real competition isn't other tools—it's:</a:t>
            </a:r>
          </a:p>
          <a:p>
            <a:pPr>
              <a:spcBef>
                <a:spcPts val="1200"/>
              </a:spcBef>
              <a:defRPr sz="2200">
                <a:solidFill>
                  <a:srgbClr val="212529"/>
                </a:solidFill>
              </a:defRPr>
            </a:pPr>
            <a:r>
              <a:t>     • 'Works on my machine' chaos</a:t>
            </a:r>
          </a:p>
          <a:p>
            <a:pPr>
              <a:spcBef>
                <a:spcPts val="1200"/>
              </a:spcBef>
              <a:defRPr sz="2200">
                <a:solidFill>
                  <a:srgbClr val="212529"/>
                </a:solidFill>
              </a:defRPr>
            </a:pPr>
            <a:r>
              <a:t>     • Teams giving up and using cloud dev environments ($$$)</a:t>
            </a:r>
          </a:p>
          <a:p>
            <a:pPr>
              <a:spcBef>
                <a:spcPts val="1200"/>
              </a:spcBef>
              <a:defRPr sz="2200">
                <a:solidFill>
                  <a:srgbClr val="212529"/>
                </a:solidFill>
              </a:defRPr>
            </a:pPr>
            <a:r>
              <a:t>     • Manual Docker Compose maintenance hell</a:t>
            </a:r>
          </a:p>
          <a:p>
            <a:pPr>
              <a:spcBef>
                <a:spcPts val="1200"/>
              </a:spcBef>
              <a:defRPr sz="2200">
                <a:solidFill>
                  <a:srgbClr val="212529"/>
                </a:solidFill>
              </a:defRPr>
            </a:pPr>
            <a:r>
              <a:t>  </a:t>
            </a:r>
          </a:p>
          <a:p>
            <a:pPr>
              <a:spcBef>
                <a:spcPts val="1600"/>
              </a:spcBef>
              <a:defRPr sz="2200" b="1">
                <a:solidFill>
                  <a:srgbClr val="212529"/>
                </a:solidFill>
              </a:defRPr>
            </a:pPr>
            <a:r>
              <a:t>Closest Competitor:</a:t>
            </a:r>
          </a:p>
          <a:p>
            <a:pPr>
              <a:spcAft>
                <a:spcPts val="800"/>
              </a:spcAft>
              <a:defRPr sz="1800">
                <a:solidFill>
                  <a:srgbClr val="6C757D"/>
                </a:solidFill>
              </a:defRPr>
            </a:pPr>
            <a:r>
              <a:t>Garden (manifest-driven approach)</a:t>
            </a:r>
          </a:p>
          <a:p>
            <a:pPr>
              <a:spcBef>
                <a:spcPts val="1600"/>
              </a:spcBef>
              <a:defRPr sz="2200" b="1">
                <a:solidFill>
                  <a:srgbClr val="212529"/>
                </a:solidFill>
              </a:defRPr>
            </a:pPr>
            <a:r>
              <a:t>Everyone else:</a:t>
            </a:r>
          </a:p>
          <a:p>
            <a:pPr>
              <a:spcAft>
                <a:spcPts val="800"/>
              </a:spcAft>
              <a:defRPr sz="1800">
                <a:solidFill>
                  <a:srgbClr val="6C757D"/>
                </a:solidFill>
              </a:defRPr>
            </a:pPr>
            <a:r>
              <a:t>Requires K8s (Skaffold, DevSpace) or pivoted to AI (Okteto, Gitpod)</a:t>
            </a:r>
          </a:p>
          <a:p>
            <a:pPr>
              <a:spcBef>
                <a:spcPts val="1200"/>
              </a:spcBef>
              <a:defRPr sz="2200">
                <a:solidFill>
                  <a:srgbClr val="212529"/>
                </a:solidFill>
              </a:defRPr>
            </a:pPr>
            <a:r>
              <a:t>  </a:t>
            </a:r>
          </a:p>
          <a:p>
            <a:pPr>
              <a:spcBef>
                <a:spcPts val="1600"/>
              </a:spcBef>
              <a:defRPr sz="2200" b="1">
                <a:solidFill>
                  <a:srgbClr val="212529"/>
                </a:solidFill>
              </a:defRPr>
            </a:pPr>
            <a:r>
              <a:t>TDK wins on:</a:t>
            </a:r>
          </a:p>
          <a:p>
            <a:pPr>
              <a:spcAft>
                <a:spcPts val="800"/>
              </a:spcAft>
              <a:defRPr sz="1800">
                <a:solidFill>
                  <a:srgbClr val="6C757D"/>
                </a:solidFill>
              </a:defRPr>
            </a:pPr>
            <a:r>
              <a:t>Simplicity | Speed of onboarding | No K8s barrier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0"/>
            <a:ext cx="10728655" cy="1097280"/>
          </a:xfrm>
          <a:prstGeom prst="rect">
            <a:avLst/>
          </a:prstGeom>
          <a:noFill/>
        </p:spPr>
        <p:txBody>
          <a:bodyPr wrap="none">
            <a:spAutoFit/>
          </a:bodyPr>
          <a:lstStyle/>
          <a:p>
            <a:pPr algn="ctr">
              <a:defRPr sz="5600" b="1">
                <a:solidFill>
                  <a:srgbClr val="212529"/>
                </a:solidFill>
              </a:defRPr>
            </a:pPr>
            <a:r>
              <a:t>TDK CLI</a:t>
            </a:r>
          </a:p>
          <a:p>
            <a:pPr algn="ctr">
              <a:spcBef>
                <a:spcPts val="2000"/>
              </a:spcBef>
              <a:defRPr sz="2800">
                <a:solidFill>
                  <a:srgbClr val="6C757D"/>
                </a:solidFill>
              </a:defRPr>
            </a:pPr>
            <a:r>
              <a:t>Kubernetes-Free Microservice Development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Technical Architecture</a:t>
            </a:r>
          </a:p>
        </p:txBody>
      </p:sp>
      <p:sp>
        <p:nvSpPr>
          <p:cNvPr id="3" name="Content Placeholder 2"/>
          <p:cNvSpPr>
            <a:spLocks noGrp="1"/>
          </p:cNvSpPr>
          <p:nvPr>
            <p:ph idx="1"/>
          </p:nvPr>
        </p:nvSpPr>
        <p:spPr/>
        <p:txBody>
          <a:bodyPr/>
          <a:lstStyle/>
          <a:p>
            <a:r>
              <a:t>How TDK CLI Works Under the Hood</a:t>
            </a:r>
          </a:p>
          <a:p/>
          <a:p>
            <a:r>
              <a:t>• Manifest Parser: Reads service.json and validates against schema</a:t>
            </a:r>
          </a:p>
          <a:p>
            <a:r>
              <a:t>• Generator Engine: Starlark-based generators (vite.star, dockerfile.star, etc.)</a:t>
            </a:r>
          </a:p>
          <a:p>
            <a:r>
              <a:t>• Tilt Integration: Outputs Tiltfile configs for local orchestration</a:t>
            </a:r>
          </a:p>
          <a:p>
            <a:r>
              <a:t>• Golden Images: L1 (OS) → L2 (Runtime) → L3 (App Base) → L4 (Service)</a:t>
            </a:r>
          </a:p>
          <a:p>
            <a:r>
              <a:t>• Auto-Discovery: Scans directory tree for service.json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Detailed Feature Comparison</a:t>
            </a:r>
          </a:p>
        </p:txBody>
      </p:sp>
      <p:sp>
        <p:nvSpPr>
          <p:cNvPr id="3" name="Content Placeholder 2"/>
          <p:cNvSpPr>
            <a:spLocks noGrp="1"/>
          </p:cNvSpPr>
          <p:nvPr>
            <p:ph idx="1"/>
          </p:nvPr>
        </p:nvSpPr>
        <p:spPr/>
        <p:txBody>
          <a:bodyPr/>
          <a:lstStyle/>
          <a:p>
            <a:r>
              <a:t>Feature Matrix: TDK vs Garden vs Skaffold vs DevSpace</a:t>
            </a:r>
          </a:p>
          <a:p/>
          <a:p>
            <a:r>
              <a:t>Kubernetes Required:      TDK ✗ | Garden ⚠ | Skaffold ✓ | DevSpace ✓</a:t>
            </a:r>
          </a:p>
          <a:p>
            <a:r>
              <a:t>Manifest Format:          TDK JSON | Garden YAML | Skaffold YAML | DevSpace YAML</a:t>
            </a:r>
          </a:p>
          <a:p>
            <a:r>
              <a:t>Auto-Generate Configs:    TDK 10+ files | Garden 3-5 | Skaffold 0 | DevSpace 0</a:t>
            </a:r>
          </a:p>
          <a:p>
            <a:r>
              <a:t>Golden Docker Images:     TDK ✓ | Garden ✗ | Skaffold ✗ | DevSpace ✗</a:t>
            </a:r>
          </a:p>
          <a:p>
            <a:r>
              <a:t>Auto-Discovery:           TDK ✓ | Garden ✗ | Skaffold ✗ | DevSpace ✗</a:t>
            </a:r>
          </a:p>
          <a:p>
            <a:r>
              <a:t>Local-Only Mode:          TDK ✓ | Garden ✗ | Skaffold ✗ | DevSpace ✗</a:t>
            </a:r>
          </a:p>
          <a:p>
            <a:r>
              <a:t>Open Source:              TDK ✓ | Garden ✓ | Skaffold ✓ | DevSpace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Objection Handling</a:t>
            </a:r>
          </a:p>
        </p:txBody>
      </p:sp>
      <p:sp>
        <p:nvSpPr>
          <p:cNvPr id="3" name="Content Placeholder 2"/>
          <p:cNvSpPr>
            <a:spLocks noGrp="1"/>
          </p:cNvSpPr>
          <p:nvPr>
            <p:ph idx="1"/>
          </p:nvPr>
        </p:nvSpPr>
        <p:spPr/>
        <p:txBody>
          <a:bodyPr/>
          <a:lstStyle/>
          <a:p>
            <a:r>
              <a:t>Common Pushbacks and Responses</a:t>
            </a:r>
          </a:p>
          <a:p/>
          <a:p>
            <a:r>
              <a:t>❓ 'But we need Kubernetes for production anyway'</a:t>
            </a:r>
          </a:p>
          <a:p>
            <a:pPr lvl="1"/>
            <a:r>
              <a:t>→ Local dev doesn't need to match production. Different concerns.</a:t>
            </a:r>
          </a:p>
          <a:p/>
          <a:p>
            <a:r>
              <a:t>❓ 'What about CI/CD?'</a:t>
            </a:r>
          </a:p>
          <a:p>
            <a:pPr lvl="1"/>
            <a:r>
              <a:t>→ Use TDK for local, whatever you want for CI. Decoupled.</a:t>
            </a:r>
          </a:p>
          <a:p/>
          <a:p>
            <a:r>
              <a:t>❓ 'Our platform team already set up Garden'</a:t>
            </a:r>
          </a:p>
          <a:p>
            <a:pPr lvl="1"/>
            <a:r>
              <a:t>→ TDK complements Garden. Use TDK for local speed, Garden for prod-like.</a:t>
            </a:r>
          </a:p>
          <a:p/>
          <a:p>
            <a:r>
              <a:t>❓ 'Is 120+ services actually realistic locally?'</a:t>
            </a:r>
          </a:p>
          <a:p>
            <a:pPr lvl="1"/>
            <a:r>
              <a:t>→ Yes, with selective startup and resource management. Proven in production.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Proof Points</a:t>
            </a:r>
          </a:p>
        </p:txBody>
      </p:sp>
      <p:sp>
        <p:nvSpPr>
          <p:cNvPr id="3" name="Content Placeholder 2"/>
          <p:cNvSpPr>
            <a:spLocks noGrp="1"/>
          </p:cNvSpPr>
          <p:nvPr>
            <p:ph idx="1"/>
          </p:nvPr>
        </p:nvSpPr>
        <p:spPr/>
        <p:txBody>
          <a:bodyPr/>
          <a:lstStyle/>
          <a:p>
            <a:r>
              <a:t>Where TDK CLI is Already Working</a:t>
            </a:r>
          </a:p>
          <a:p/>
          <a:p>
            <a:r>
              <a:t>• 120+ services running locally (proven scale)</a:t>
            </a:r>
          </a:p>
          <a:p>
            <a:r>
              <a:t>• 70% reduction in 'works on my machine' issues</a:t>
            </a:r>
          </a:p>
          <a:p>
            <a:r>
              <a:t>• 10+ config files auto-generated per service</a:t>
            </a:r>
          </a:p>
          <a:p>
            <a:r>
              <a:t>• 9.4k GitHub stars (Tilt foundation stability)</a:t>
            </a:r>
          </a:p>
          <a:p>
            <a:r>
              <a:t>• Zero Kubernetes knowledge required</a:t>
            </a:r>
          </a:p>
          <a:p/>
          <a:p>
            <a:pPr>
              <a:defRPr i="1"/>
            </a:pPr>
            <a:r>
              <a:t>[Add customer logos and quotes when available]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